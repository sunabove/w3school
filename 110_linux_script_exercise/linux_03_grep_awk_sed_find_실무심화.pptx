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14" y="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1395412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5600" y="356408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15983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15983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89318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83436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Linux 명령어 실무 심화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grep / awk / sed / find — 로그 분석, 자동화, 대용량 파일 처리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실무에서의 역할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find : 파일 시스템에서 작업 대상 선별</a:t>
            </a:r>
          </a:p>
          <a:p>
            <a:pPr>
              <a:spcAft>
                <a:spcPts val="800"/>
              </a:spcAft>
              <a:defRPr sz="2000"/>
            </a:pPr>
            <a:r>
              <a:t>grep : 텍스트 패턴을 빠르게 필터링</a:t>
            </a:r>
          </a:p>
          <a:p>
            <a:pPr>
              <a:spcAft>
                <a:spcPts val="800"/>
              </a:spcAft>
              <a:defRPr sz="2000"/>
            </a:pPr>
            <a:r>
              <a:t>awk : 구조화된 텍스트의 필드 추출·집계·변환</a:t>
            </a:r>
          </a:p>
          <a:p>
            <a:pPr>
              <a:spcAft>
                <a:spcPts val="800"/>
              </a:spcAft>
              <a:defRPr sz="2000"/>
            </a:pPr>
            <a:r>
              <a:t>sed : 텍스트 스트림의 치환·삭제·정규화</a:t>
            </a:r>
          </a:p>
          <a:p>
            <a:pPr>
              <a:spcAft>
                <a:spcPts val="800"/>
              </a:spcAft>
              <a:defRPr sz="2000"/>
            </a:pPr>
            <a:r>
              <a:t>핵심은 개별 명령보다 파이프라인 설계와 데이터 흐름 이해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grep 심화 — 패턴 조합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rPr dirty="0"/>
              <a:t>AND/OR/</a:t>
            </a:r>
            <a:r>
              <a:rPr dirty="0" err="1"/>
              <a:t>제외</a:t>
            </a:r>
            <a:r>
              <a:rPr dirty="0"/>
              <a:t>/</a:t>
            </a:r>
            <a:r>
              <a:rPr dirty="0" err="1"/>
              <a:t>정규식으로</a:t>
            </a:r>
            <a:r>
              <a:rPr dirty="0"/>
              <a:t> </a:t>
            </a:r>
            <a:r>
              <a:rPr dirty="0" err="1"/>
              <a:t>로그를</a:t>
            </a:r>
            <a:r>
              <a:rPr dirty="0"/>
              <a:t> </a:t>
            </a:r>
            <a:r>
              <a:rPr dirty="0" err="1"/>
              <a:t>단계적으로</a:t>
            </a:r>
            <a:r>
              <a:rPr dirty="0"/>
              <a:t> </a:t>
            </a:r>
            <a:r>
              <a:rPr dirty="0" err="1"/>
              <a:t>좁힙니다</a:t>
            </a:r>
            <a:r>
              <a:rPr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10972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grep "ERROR" app.log</a:t>
            </a:r>
          </a:p>
          <a:p>
            <a:pPr>
              <a:defRPr sz="1700">
                <a:latin typeface="Consolas"/>
              </a:defRPr>
            </a:pPr>
            <a:r>
              <a:t>grep -E "ERROR|WARN" app.log</a:t>
            </a:r>
          </a:p>
          <a:p>
            <a:pPr>
              <a:defRPr sz="1700">
                <a:latin typeface="Consolas"/>
              </a:defRPr>
            </a:pPr>
            <a:r>
              <a:t>grep -v "DEBUG" app.log</a:t>
            </a:r>
          </a:p>
          <a:p>
            <a:pPr>
              <a:defRPr sz="1700">
                <a:latin typeface="Consolas"/>
              </a:defRPr>
            </a:pPr>
            <a:r>
              <a:t>grep -E "ERROR|WARN" app.log | grep -v "healthcheck"</a:t>
            </a:r>
          </a:p>
          <a:p>
            <a:pPr>
              <a:defRPr sz="1700">
                <a:latin typeface="Consolas"/>
              </a:defRPr>
            </a:pPr>
            <a:r>
              <a:t>grep -n -C 2 "OutOfMemory" app.log</a:t>
            </a:r>
          </a:p>
          <a:p>
            <a:pPr>
              <a:defRPr sz="1700">
                <a:latin typeface="Consolas"/>
              </a:defRPr>
            </a:pPr>
            <a:r>
              <a:t>grep -R --include="*.log" "ERROR" /var/log/app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grep 심화 — 고급 정규식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실무 로그의 날짜·레벨·IP 등의 패턴을 검색합니다.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10972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grep -E '^[0-9]{4}-[0-9]{2}-[0-9]{2}' app.log</a:t>
            </a:r>
          </a:p>
          <a:p>
            <a:pPr>
              <a:defRPr sz="1700">
                <a:latin typeface="Consolas"/>
              </a:defRPr>
            </a:pPr>
            <a:r>
              <a:t>grep -E 'ERROR|FATAL|Exception' app.log</a:t>
            </a:r>
          </a:p>
          <a:p>
            <a:pPr>
              <a:defRPr sz="1700">
                <a:latin typeface="Consolas"/>
              </a:defRPr>
            </a:pPr>
            <a:r>
              <a:t>grep -E '10\.0\.0\.[0-9]+' access.log</a:t>
            </a:r>
          </a:p>
          <a:p>
            <a:pPr>
              <a:defRPr sz="1700">
                <a:latin typeface="Consolas"/>
              </a:defRPr>
            </a:pPr>
            <a:r>
              <a:t>grep -E '^[[:space:]]*[^#[:space:]]' config.conf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grep 실무 — 파일 통계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로그 파일별 ERROR 발생량을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10972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find /var/log/app -name "*.log" -print0 |</a:t>
            </a:r>
          </a:p>
          <a:p>
            <a:pPr>
              <a:defRPr sz="1700">
                <a:latin typeface="Consolas"/>
              </a:defRPr>
            </a:pPr>
            <a:r>
              <a:t>xargs -0 grep -h "ERROR" |</a:t>
            </a:r>
          </a:p>
          <a:p>
            <a:pPr>
              <a:defRPr sz="1700">
                <a:latin typeface="Consolas"/>
              </a:defRPr>
            </a:pPr>
            <a:r>
              <a:t>wc -l</a:t>
            </a:r>
          </a:p>
          <a:p>
            <a:pPr>
              <a:defRPr sz="1700">
                <a:latin typeface="Consolas"/>
              </a:defRPr>
            </a:pPr>
            <a:endParaRPr/>
          </a:p>
          <a:p>
            <a:pPr>
              <a:defRPr sz="1700">
                <a:latin typeface="Consolas"/>
              </a:defRPr>
            </a:pPr>
            <a:r>
              <a:t># 파일명까지 유지</a:t>
            </a:r>
          </a:p>
          <a:p>
            <a:pPr>
              <a:defRPr sz="1700">
                <a:latin typeface="Consolas"/>
              </a:defRPr>
            </a:pPr>
            <a:r>
              <a:t>grep -H "ERROR" /var/log/app/*.log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awk 심화 — 필드와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로그 형식을 필드 단위로 다루는 것이 awk의 핵심입니다.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10972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awk '{print $1, $4, $7}' access.log</a:t>
            </a:r>
          </a:p>
          <a:p>
            <a:pPr>
              <a:defRPr sz="1700">
                <a:latin typeface="Consolas"/>
              </a:defRPr>
            </a:pPr>
            <a:r>
              <a:t>awk '$9 &gt;= 500 {print $1, $7, $9}' access.log</a:t>
            </a:r>
          </a:p>
          <a:p>
            <a:pPr>
              <a:defRPr sz="1700">
                <a:latin typeface="Consolas"/>
              </a:defRPr>
            </a:pPr>
            <a:r>
              <a:t>awk 'NF &gt;= 5 {print NR, $0}' data.txt</a:t>
            </a:r>
          </a:p>
          <a:p>
            <a:pPr>
              <a:defRPr sz="1700">
                <a:latin typeface="Consolas"/>
              </a:defRPr>
            </a:pPr>
            <a:r>
              <a:t>awk -F ',' 'NR &gt; 1 &amp;&amp; $3 &gt; 100 {print $1,$3}' data.csv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awk 심화 — 집계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실무 분석에서 가장 자주 사용하는 패턴입니다.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10972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# 합계</a:t>
            </a:r>
          </a:p>
          <a:p>
            <a:pPr>
              <a:defRPr sz="1700">
                <a:latin typeface="Consolas"/>
              </a:defRPr>
            </a:pPr>
            <a:r>
              <a:t>awk '{sum += $2} END {print sum}' data.txt</a:t>
            </a:r>
          </a:p>
          <a:p>
            <a:pPr>
              <a:defRPr sz="1700">
                <a:latin typeface="Consolas"/>
              </a:defRPr>
            </a:pPr>
            <a:endParaRPr/>
          </a:p>
          <a:p>
            <a:pPr>
              <a:defRPr sz="1700">
                <a:latin typeface="Consolas"/>
              </a:defRPr>
            </a:pPr>
            <a:r>
              <a:t># 평균</a:t>
            </a:r>
          </a:p>
          <a:p>
            <a:pPr>
              <a:defRPr sz="1700">
                <a:latin typeface="Consolas"/>
              </a:defRPr>
            </a:pPr>
            <a:r>
              <a:t>awk '{sum += $2; n++} END {print sum/n}' data.txt</a:t>
            </a:r>
          </a:p>
          <a:p>
            <a:pPr>
              <a:defRPr sz="1700">
                <a:latin typeface="Consolas"/>
              </a:defRPr>
            </a:pPr>
            <a:endParaRPr/>
          </a:p>
          <a:p>
            <a:pPr>
              <a:defRPr sz="1700">
                <a:latin typeface="Consolas"/>
              </a:defRPr>
            </a:pPr>
            <a:r>
              <a:t># 최대값</a:t>
            </a:r>
          </a:p>
          <a:p>
            <a:pPr>
              <a:defRPr sz="1700">
                <a:latin typeface="Consolas"/>
              </a:defRPr>
            </a:pPr>
            <a:r>
              <a:t>awk 'NR==1 || $2&gt;max {max=$2} END {print max}' data.txt</a:t>
            </a:r>
          </a:p>
          <a:p>
            <a:pPr>
              <a:defRPr sz="1700">
                <a:latin typeface="Consolas"/>
              </a:defRPr>
            </a:pPr>
            <a:endParaRPr/>
          </a:p>
          <a:p>
            <a:pPr>
              <a:defRPr sz="1700">
                <a:latin typeface="Consolas"/>
              </a:defRPr>
            </a:pPr>
            <a:r>
              <a:t># 상태별 건수</a:t>
            </a:r>
          </a:p>
          <a:p>
            <a:pPr>
              <a:defRPr sz="1700">
                <a:latin typeface="Consolas"/>
              </a:defRPr>
            </a:pPr>
            <a:r>
              <a:t>awk '{count[$9]++} END {for (k in count) print k,count[k]}' access.log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awk 심화 — printf와 포맷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운영 리포트나 배치 결과를 사람이 읽기 좋은 형태로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10972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awk '{printf "%-20s %8s %8s\n",$1,$2,$3}' report.txt</a:t>
            </a:r>
          </a:p>
          <a:p>
            <a:pPr>
              <a:defRPr sz="1700">
                <a:latin typeface="Consolas"/>
              </a:defRPr>
            </a:pPr>
            <a:endParaRPr/>
          </a:p>
          <a:p>
            <a:pPr>
              <a:defRPr sz="1700">
                <a:latin typeface="Consolas"/>
              </a:defRPr>
            </a:pPr>
            <a:r>
              <a:t>awk 'BEGIN {</a:t>
            </a:r>
          </a:p>
          <a:p>
            <a:pPr>
              <a:defRPr sz="1700">
                <a:latin typeface="Consolas"/>
              </a:defRPr>
            </a:pPr>
            <a:r>
              <a:t>    print "USER            COUNT"</a:t>
            </a:r>
          </a:p>
          <a:p>
            <a:pPr>
              <a:defRPr sz="1700">
                <a:latin typeface="Consolas"/>
              </a:defRPr>
            </a:pPr>
            <a:r>
              <a:t>    print "----------------------"</a:t>
            </a:r>
          </a:p>
          <a:p>
            <a:pPr>
              <a:defRPr sz="1700">
                <a:latin typeface="Consolas"/>
              </a:defRPr>
            </a:pPr>
            <a:r>
              <a:t>}</a:t>
            </a:r>
          </a:p>
          <a:p>
            <a:pPr>
              <a:defRPr sz="1700">
                <a:latin typeface="Consolas"/>
              </a:defRPr>
            </a:pPr>
            <a:r>
              <a:t>{ count[$1]++ }</a:t>
            </a:r>
          </a:p>
          <a:p>
            <a:pPr>
              <a:defRPr sz="1700">
                <a:latin typeface="Consolas"/>
              </a:defRPr>
            </a:pPr>
            <a:r>
              <a:t>END {</a:t>
            </a:r>
          </a:p>
          <a:p>
            <a:pPr>
              <a:defRPr sz="1700">
                <a:latin typeface="Consolas"/>
              </a:defRPr>
            </a:pPr>
            <a:r>
              <a:t>    for (u in count)</a:t>
            </a:r>
          </a:p>
          <a:p>
            <a:pPr>
              <a:defRPr sz="1700">
                <a:latin typeface="Consolas"/>
              </a:defRPr>
            </a:pPr>
            <a:r>
              <a:t>        printf "%-15s %8d\n", u, count[u]</a:t>
            </a:r>
          </a:p>
          <a:p>
            <a:pPr>
              <a:defRPr sz="1700">
                <a:latin typeface="Consolas"/>
              </a:defRPr>
            </a:pPr>
            <a:r>
              <a:t>}' access.log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sed 심화 — 정규식 치환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설정 파일을 안전하게 정규화하거나 특정 패턴을 일괄 변경합니다.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10972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sed 's/[[:space:]]\+$//' file.txt</a:t>
            </a:r>
          </a:p>
          <a:p>
            <a:pPr>
              <a:defRPr sz="1700">
                <a:latin typeface="Consolas"/>
              </a:defRPr>
            </a:pPr>
            <a:r>
              <a:t>sed 's/^#[[:space:]]*//' config.conf</a:t>
            </a:r>
          </a:p>
          <a:p>
            <a:pPr>
              <a:defRPr sz="1700">
                <a:latin typeface="Consolas"/>
              </a:defRPr>
            </a:pPr>
            <a:r>
              <a:t>sed -E 's/[0-9]{1,3}(\.[0-9]{1,3}){3}/IP/g' log.txt</a:t>
            </a:r>
          </a:p>
          <a:p>
            <a:pPr>
              <a:defRPr sz="1700">
                <a:latin typeface="Consolas"/>
              </a:defRPr>
            </a:pPr>
            <a:r>
              <a:t>sed -n '10,30p' app.log</a:t>
            </a:r>
          </a:p>
          <a:p>
            <a:pPr>
              <a:defRPr sz="1700">
                <a:latin typeface="Consolas"/>
              </a:defRPr>
            </a:pPr>
            <a:r>
              <a:t>sed -n '/BEGIN/,/END/p' file.txt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sed 심화 — 조건부 수정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특정 패턴에만 변경을 적용합니다.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10972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# ERROR 줄에서만 수정</a:t>
            </a:r>
          </a:p>
          <a:p>
            <a:pPr>
              <a:defRPr sz="1700">
                <a:latin typeface="Consolas"/>
              </a:defRPr>
            </a:pPr>
            <a:r>
              <a:t>sed '/ERROR/s/foo/bar/g' app.log</a:t>
            </a:r>
          </a:p>
          <a:p>
            <a:pPr>
              <a:defRPr sz="1700">
                <a:latin typeface="Consolas"/>
              </a:defRPr>
            </a:pPr>
            <a:endParaRPr/>
          </a:p>
          <a:p>
            <a:pPr>
              <a:defRPr sz="1700">
                <a:latin typeface="Consolas"/>
              </a:defRPr>
            </a:pPr>
            <a:r>
              <a:t># 특정 설정만 변경</a:t>
            </a:r>
          </a:p>
          <a:p>
            <a:pPr>
              <a:defRPr sz="1700">
                <a:latin typeface="Consolas"/>
              </a:defRPr>
            </a:pPr>
            <a:r>
              <a:t>sed -E '/^[[:space:]]*PORT=/s/[0-9]+/8080/' app.conf</a:t>
            </a:r>
          </a:p>
          <a:p>
            <a:pPr>
              <a:defRPr sz="1700">
                <a:latin typeface="Consolas"/>
              </a:defRPr>
            </a:pPr>
            <a:endParaRPr/>
          </a:p>
          <a:p>
            <a:pPr>
              <a:defRPr sz="1700">
                <a:latin typeface="Consolas"/>
              </a:defRPr>
            </a:pPr>
            <a:r>
              <a:t># 빈 줄 삭제</a:t>
            </a:r>
          </a:p>
          <a:p>
            <a:pPr>
              <a:defRPr sz="1700">
                <a:latin typeface="Consolas"/>
              </a:defRPr>
            </a:pPr>
            <a:r>
              <a:t>sed '/^[[:space:]]*$/d' file.txt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 심화 — 검색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파일명뿐 아니라 시간·크기·권한·소유자 등을 결합합니다.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10972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find /data -type f -name "*.log" -mtime +30</a:t>
            </a:r>
          </a:p>
          <a:p>
            <a:pPr>
              <a:defRPr sz="1700">
                <a:latin typeface="Consolas"/>
              </a:defRPr>
            </a:pPr>
            <a:r>
              <a:t>find /data -type f -size +1G</a:t>
            </a:r>
          </a:p>
          <a:p>
            <a:pPr>
              <a:defRPr sz="1700">
                <a:latin typeface="Consolas"/>
              </a:defRPr>
            </a:pPr>
            <a:r>
              <a:t>find /data -type f -user app</a:t>
            </a:r>
          </a:p>
          <a:p>
            <a:pPr>
              <a:defRPr sz="1700">
                <a:latin typeface="Consolas"/>
              </a:defRPr>
            </a:pPr>
            <a:r>
              <a:t>find /data -type f \( -name "*.log" -o -name "*.bak" \)</a:t>
            </a:r>
          </a:p>
          <a:p>
            <a:pPr>
              <a:defRPr sz="1700">
                <a:latin typeface="Consolas"/>
              </a:defRPr>
            </a:pPr>
            <a:r>
              <a:t>find /data -type f -mtime -1 -size +100M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 + exec — 안전한 일괄 작업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파일명을 직접 쉘에 전달하기보다 -exec 또는 -print0을 활용합니다.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10972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find . -type f -name "*.tmp" -exec rm -i {} \;</a:t>
            </a:r>
          </a:p>
          <a:p>
            <a:pPr>
              <a:defRPr sz="1700">
                <a:latin typeface="Consolas"/>
              </a:defRPr>
            </a:pPr>
            <a:endParaRPr/>
          </a:p>
          <a:p>
            <a:pPr>
              <a:defRPr sz="1700">
                <a:latin typeface="Consolas"/>
              </a:defRPr>
            </a:pPr>
            <a:r>
              <a:t>find . -type f -name "*.log" \</a:t>
            </a:r>
          </a:p>
          <a:p>
            <a:pPr>
              <a:defRPr sz="1700">
                <a:latin typeface="Consolas"/>
              </a:defRPr>
            </a:pPr>
            <a:r>
              <a:t>  -exec grep -H "ERROR" {} \;</a:t>
            </a:r>
          </a:p>
          <a:p>
            <a:pPr>
              <a:defRPr sz="1700">
                <a:latin typeface="Consolas"/>
              </a:defRPr>
            </a:pPr>
            <a:endParaRPr/>
          </a:p>
          <a:p>
            <a:pPr>
              <a:defRPr sz="1700">
                <a:latin typeface="Consolas"/>
              </a:defRPr>
            </a:pPr>
            <a:r>
              <a:t># 파일명에 공백 등이 있을 때</a:t>
            </a:r>
          </a:p>
          <a:p>
            <a:pPr>
              <a:defRPr sz="1700">
                <a:latin typeface="Consolas"/>
              </a:defRPr>
            </a:pPr>
            <a:r>
              <a:t>find . -type f -name "*.log" -print0 |</a:t>
            </a:r>
          </a:p>
          <a:p>
            <a:pPr>
              <a:defRPr sz="1700">
                <a:latin typeface="Consolas"/>
              </a:defRPr>
            </a:pPr>
            <a:r>
              <a:t>xargs -0 grep "ERROR"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파이프라인 설계 — 로그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검색 → 필드 추출 → 정렬 → 집계의 대표적인 흐름입니다.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10972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grep "ERROR" app.log |</a:t>
            </a:r>
          </a:p>
          <a:p>
            <a:pPr>
              <a:defRPr sz="1700">
                <a:latin typeface="Consolas"/>
              </a:defRPr>
            </a:pPr>
            <a:r>
              <a:t>awk '{print $5}' |</a:t>
            </a:r>
          </a:p>
          <a:p>
            <a:pPr>
              <a:defRPr sz="1700">
                <a:latin typeface="Consolas"/>
              </a:defRPr>
            </a:pPr>
            <a:r>
              <a:t>sort |</a:t>
            </a:r>
          </a:p>
          <a:p>
            <a:pPr>
              <a:defRPr sz="1700">
                <a:latin typeface="Consolas"/>
              </a:defRPr>
            </a:pPr>
            <a:r>
              <a:t>uniq -c |</a:t>
            </a:r>
          </a:p>
          <a:p>
            <a:pPr>
              <a:defRPr sz="1700">
                <a:latin typeface="Consolas"/>
              </a:defRPr>
            </a:pPr>
            <a:r>
              <a:t>sort -nr |</a:t>
            </a:r>
          </a:p>
          <a:p>
            <a:pPr>
              <a:defRPr sz="1700">
                <a:latin typeface="Consolas"/>
              </a:defRPr>
            </a:pPr>
            <a:r>
              <a:t>head -20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실무 예제 — HTTP 상태코드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access.log의 상태코드($9)를 집계한다고 가정합니다.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10972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awk '{count[$9]++}</a:t>
            </a:r>
          </a:p>
          <a:p>
            <a:pPr>
              <a:defRPr sz="1700">
                <a:latin typeface="Consolas"/>
              </a:defRPr>
            </a:pPr>
            <a:r>
              <a:t>END {</a:t>
            </a:r>
          </a:p>
          <a:p>
            <a:pPr>
              <a:defRPr sz="1700">
                <a:latin typeface="Consolas"/>
              </a:defRPr>
            </a:pPr>
            <a:r>
              <a:t>    for (code in count)</a:t>
            </a:r>
          </a:p>
          <a:p>
            <a:pPr>
              <a:defRPr sz="1700">
                <a:latin typeface="Consolas"/>
              </a:defRPr>
            </a:pPr>
            <a:r>
              <a:t>        print code, count[code]</a:t>
            </a:r>
          </a:p>
          <a:p>
            <a:pPr>
              <a:defRPr sz="1700">
                <a:latin typeface="Consolas"/>
              </a:defRPr>
            </a:pPr>
            <a:r>
              <a:t>}' access.log |</a:t>
            </a:r>
          </a:p>
          <a:p>
            <a:pPr>
              <a:defRPr sz="1700">
                <a:latin typeface="Consolas"/>
              </a:defRPr>
            </a:pPr>
            <a:r>
              <a:t>sort -k2,2nr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실무 예제 — 상위 IP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첫 번째 필드가 클라이언트 IP인 일반적인 access log 예제입니다.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10972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awk '{print $1}' access.log |</a:t>
            </a:r>
          </a:p>
          <a:p>
            <a:pPr>
              <a:defRPr sz="1700">
                <a:latin typeface="Consolas"/>
              </a:defRPr>
            </a:pPr>
            <a:r>
              <a:t>sort |</a:t>
            </a:r>
          </a:p>
          <a:p>
            <a:pPr>
              <a:defRPr sz="1700">
                <a:latin typeface="Consolas"/>
              </a:defRPr>
            </a:pPr>
            <a:r>
              <a:t>uniq -c |</a:t>
            </a:r>
          </a:p>
          <a:p>
            <a:pPr>
              <a:defRPr sz="1700">
                <a:latin typeface="Consolas"/>
              </a:defRPr>
            </a:pPr>
            <a:r>
              <a:t>sort -nr |</a:t>
            </a:r>
          </a:p>
          <a:p>
            <a:pPr>
              <a:defRPr sz="1700">
                <a:latin typeface="Consolas"/>
              </a:defRPr>
            </a:pPr>
            <a:r>
              <a:t>head -20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실무 예제 — 최근 로그만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find로 분석 범위를 제한한 후 grep/awk를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10972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find /var/log/app -type f -name "*.log" -mtime -1 -print0 |</a:t>
            </a:r>
          </a:p>
          <a:p>
            <a:pPr>
              <a:defRPr sz="1700">
                <a:latin typeface="Consolas"/>
              </a:defRPr>
            </a:pPr>
            <a:r>
              <a:t>xargs -0 grep -h "ERROR" |</a:t>
            </a:r>
          </a:p>
          <a:p>
            <a:pPr>
              <a:defRPr sz="1700">
                <a:latin typeface="Consolas"/>
              </a:defRPr>
            </a:pPr>
            <a:r>
              <a:t>awk '{count[$5]++}</a:t>
            </a:r>
          </a:p>
          <a:p>
            <a:pPr>
              <a:defRPr sz="1700">
                <a:latin typeface="Consolas"/>
              </a:defRPr>
            </a:pPr>
            <a:r>
              <a:t>END {for (k in count) print count[k], k}' |</a:t>
            </a:r>
          </a:p>
          <a:p>
            <a:pPr>
              <a:defRPr sz="1700">
                <a:latin typeface="Consolas"/>
              </a:defRPr>
            </a:pPr>
            <a:r>
              <a:t>sort -nr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실무 예제 — 설정 파일 일괄 변경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변경 대상 파일을 find로 선별하고 sed로 수정합니다. 운영 환경에서는 백업/검증을 권장합니다.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10972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find ./conf -type f -name "*.conf" \</a:t>
            </a:r>
          </a:p>
          <a:p>
            <a:pPr>
              <a:defRPr sz="1700">
                <a:latin typeface="Consolas"/>
              </a:defRPr>
            </a:pPr>
            <a:r>
              <a:t>  -exec sed -i.bak 's/OLD_VALUE/NEW_VALUE/g' {} \;</a:t>
            </a:r>
          </a:p>
          <a:p>
            <a:pPr>
              <a:defRPr sz="1700">
                <a:latin typeface="Consolas"/>
              </a:defRPr>
            </a:pPr>
            <a:endParaRPr/>
          </a:p>
          <a:p>
            <a:pPr>
              <a:defRPr sz="1700">
                <a:latin typeface="Consolas"/>
              </a:defRPr>
            </a:pPr>
            <a:r>
              <a:t># 변경 후 확인</a:t>
            </a:r>
          </a:p>
          <a:p>
            <a:pPr>
              <a:defRPr sz="1700">
                <a:latin typeface="Consolas"/>
              </a:defRPr>
            </a:pPr>
            <a:r>
              <a:t>grep -R "NEW_VALUE" ./conf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성능과 안정성 — 실무 체크포인트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대용량 로그와 운영 서버에서는 처리 방식이 중요합니다.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10972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# 불필요한 cat 제거</a:t>
            </a:r>
          </a:p>
          <a:p>
            <a:pPr>
              <a:defRPr sz="1700">
                <a:latin typeface="Consolas"/>
              </a:defRPr>
            </a:pPr>
            <a:r>
              <a:t>grep "ERROR" app.log | awk '{print $5}'</a:t>
            </a:r>
          </a:p>
          <a:p>
            <a:pPr>
              <a:defRPr sz="1700">
                <a:latin typeface="Consolas"/>
              </a:defRPr>
            </a:pPr>
            <a:endParaRPr/>
          </a:p>
          <a:p>
            <a:pPr>
              <a:defRPr sz="1700">
                <a:latin typeface="Consolas"/>
              </a:defRPr>
            </a:pPr>
            <a:r>
              <a:t># 가능하면 awk 하나로 처리</a:t>
            </a:r>
          </a:p>
          <a:p>
            <a:pPr>
              <a:defRPr sz="1700">
                <a:latin typeface="Consolas"/>
              </a:defRPr>
            </a:pPr>
            <a:r>
              <a:t>awk '$0 ~ /ERROR/ {print $5}' app.log</a:t>
            </a:r>
          </a:p>
          <a:p>
            <a:pPr>
              <a:defRPr sz="1700">
                <a:latin typeface="Consolas"/>
              </a:defRPr>
            </a:pPr>
            <a:endParaRPr/>
          </a:p>
          <a:p>
            <a:pPr>
              <a:defRPr sz="1700">
                <a:latin typeface="Consolas"/>
              </a:defRPr>
            </a:pPr>
            <a:r>
              <a:t># 파일명 안전 처리</a:t>
            </a:r>
          </a:p>
          <a:p>
            <a:pPr>
              <a:defRPr sz="1700">
                <a:latin typeface="Consolas"/>
              </a:defRPr>
            </a:pPr>
            <a:r>
              <a:t>find . -print0 | xargs -0 ...</a:t>
            </a:r>
          </a:p>
          <a:p>
            <a:pPr>
              <a:defRPr sz="1700">
                <a:latin typeface="Consolas"/>
              </a:defRPr>
            </a:pPr>
            <a:endParaRPr/>
          </a:p>
          <a:p>
            <a:pPr>
              <a:defRPr sz="1700">
                <a:latin typeface="Consolas"/>
              </a:defRPr>
            </a:pPr>
            <a:r>
              <a:t># 먼저 대상 확인 후 -i/-delete 수행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실무에서 자주 쓰는 패턴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파일 찾기 → find</a:t>
            </a:r>
          </a:p>
          <a:p>
            <a:pPr>
              <a:spcAft>
                <a:spcPts val="800"/>
              </a:spcAft>
              <a:defRPr sz="2000"/>
            </a:pPr>
            <a:r>
              <a:t>내용 필터링 → grep</a:t>
            </a:r>
          </a:p>
          <a:p>
            <a:pPr>
              <a:spcAft>
                <a:spcPts val="800"/>
              </a:spcAft>
              <a:defRPr sz="2000"/>
            </a:pPr>
            <a:r>
              <a:t>필드 추출/집계 → awk</a:t>
            </a:r>
          </a:p>
          <a:p>
            <a:pPr>
              <a:spcAft>
                <a:spcPts val="800"/>
              </a:spcAft>
              <a:defRPr sz="2000"/>
            </a:pPr>
            <a:r>
              <a:t>문자열 정규화/변경 → sed</a:t>
            </a:r>
          </a:p>
          <a:p>
            <a:pPr>
              <a:spcAft>
                <a:spcPts val="800"/>
              </a:spcAft>
              <a:defRPr sz="2000"/>
            </a:pPr>
            <a:r>
              <a:t>정렬/중복 집계 → sort → uniq</a:t>
            </a:r>
          </a:p>
          <a:p>
            <a:pPr>
              <a:spcAft>
                <a:spcPts val="800"/>
              </a:spcAft>
              <a:defRPr sz="2000"/>
            </a:pPr>
            <a:r>
              <a:t>앞/뒤 일부만 확인 → head / tail</a:t>
            </a:r>
          </a:p>
          <a:p>
            <a:pPr>
              <a:spcAft>
                <a:spcPts val="800"/>
              </a:spcAft>
              <a:defRPr sz="2000"/>
            </a:pPr>
            <a:r>
              <a:t>파일명에 특수문자가 있을 수 있으면 -print0 / xargs -0 고려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주의해야 할 운영 실수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sed -i, find -delete는 실행 전 대상 확인</a:t>
            </a:r>
          </a:p>
          <a:p>
            <a:pPr>
              <a:spcAft>
                <a:spcPts val="800"/>
              </a:spcAft>
              <a:defRPr sz="2000"/>
            </a:pPr>
            <a:r>
              <a:t>정규식에서 . [ ] ( ) 등의 메타문자 의미 확인</a:t>
            </a:r>
          </a:p>
          <a:p>
            <a:pPr>
              <a:spcAft>
                <a:spcPts val="800"/>
              </a:spcAft>
              <a:defRPr sz="2000"/>
            </a:pPr>
            <a:r>
              <a:t>CSV가 단순 쉼표 구분인지 확인 — 따옴표/이스케이프가 있는 CSV는 awk만으로 처리하기 어려움</a:t>
            </a:r>
          </a:p>
          <a:p>
            <a:pPr>
              <a:spcAft>
                <a:spcPts val="800"/>
              </a:spcAft>
              <a:defRPr sz="2000"/>
            </a:pPr>
            <a:r>
              <a:t>xargs는 공백·특수문자 파일명에 주의하고 필요하면 -0 사용</a:t>
            </a:r>
          </a:p>
          <a:p>
            <a:pPr>
              <a:spcAft>
                <a:spcPts val="800"/>
              </a:spcAft>
              <a:defRPr sz="2000"/>
            </a:pPr>
            <a:r>
              <a:t>대용량 파일은 불필요한 파이프라인 단계를 줄여 처리량을 개선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최종 실무 사고방식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1. 무엇을 찾을 것인가? → find / grep</a:t>
            </a:r>
          </a:p>
          <a:p>
            <a:pPr>
              <a:spcAft>
                <a:spcPts val="800"/>
              </a:spcAft>
              <a:defRPr sz="2000"/>
            </a:pPr>
            <a:r>
              <a:t>2. 어떤 데이터가 필요한가? → awk</a:t>
            </a:r>
          </a:p>
          <a:p>
            <a:pPr>
              <a:spcAft>
                <a:spcPts val="800"/>
              </a:spcAft>
              <a:defRPr sz="2000"/>
            </a:pPr>
            <a:r>
              <a:t>3. 어떤 형태로 바꿀 것인가? → sed</a:t>
            </a:r>
          </a:p>
          <a:p>
            <a:pPr>
              <a:spcAft>
                <a:spcPts val="800"/>
              </a:spcAft>
              <a:defRPr sz="2000"/>
            </a:pPr>
            <a:r>
              <a:t>4. 어떻게 정렬·집계할 것인가? → sort / uniq / awk</a:t>
            </a:r>
          </a:p>
          <a:p>
            <a:pPr>
              <a:spcAft>
                <a:spcPts val="800"/>
              </a:spcAft>
              <a:defRPr sz="2000"/>
            </a:pPr>
            <a:r>
              <a:t>5. 원본을 변경하는가? → 먼저 검증 후 -i/-delete 실행</a:t>
            </a:r>
          </a:p>
          <a:p>
            <a:pPr>
              <a:spcAft>
                <a:spcPts val="800"/>
              </a:spcAft>
              <a:defRPr sz="2000"/>
            </a:pPr>
            <a:r>
              <a:t>핵심: 명령어 암기보다 '입력 → 필터 → 변환 → 집계 → 출력' 흐름을 이해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1398</Words>
  <Application>Microsoft Office PowerPoint</Application>
  <PresentationFormat>Widescreen</PresentationFormat>
  <Paragraphs>166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Linux 명령어 실무 심화</vt:lpstr>
      <vt:lpstr>실무에서의 역할</vt:lpstr>
      <vt:lpstr>grep 심화 — 패턴 조합</vt:lpstr>
      <vt:lpstr>grep 심화 — 고급 정규식</vt:lpstr>
      <vt:lpstr>grep 실무 — 파일 통계</vt:lpstr>
      <vt:lpstr>awk 심화 — 필드와 조건</vt:lpstr>
      <vt:lpstr>awk 심화 — 집계</vt:lpstr>
      <vt:lpstr>awk 심화 — printf와 포맷</vt:lpstr>
      <vt:lpstr>sed 심화 — 정규식 치환</vt:lpstr>
      <vt:lpstr>sed 심화 — 조건부 수정</vt:lpstr>
      <vt:lpstr>find 심화 — 검색 조건</vt:lpstr>
      <vt:lpstr>find + exec — 안전한 일괄 작업</vt:lpstr>
      <vt:lpstr>파이프라인 설계 — 로그 분석</vt:lpstr>
      <vt:lpstr>실무 예제 — HTTP 상태코드 분석</vt:lpstr>
      <vt:lpstr>실무 예제 — 상위 IP 분석</vt:lpstr>
      <vt:lpstr>실무 예제 — 최근 로그만 분석</vt:lpstr>
      <vt:lpstr>실무 예제 — 설정 파일 일괄 변경</vt:lpstr>
      <vt:lpstr>성능과 안정성 — 실무 체크포인트</vt:lpstr>
      <vt:lpstr>실무에서 자주 쓰는 패턴</vt:lpstr>
      <vt:lpstr>주의해야 할 운영 실수</vt:lpstr>
      <vt:lpstr>최종 실무 사고방식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above sun</cp:lastModifiedBy>
  <cp:revision>2</cp:revision>
  <dcterms:created xsi:type="dcterms:W3CDTF">2013-01-27T09:14:16Z</dcterms:created>
  <dcterms:modified xsi:type="dcterms:W3CDTF">2026-09-29T01:46:03Z</dcterms:modified>
  <cp:category/>
</cp:coreProperties>
</file>