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Linux 텍스트·파일 처리 명령어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grep / awk / sed / find — 목적, 용도, 기본 문법 및 조합 예제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1. 네 명령어 한눈에 보기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grep : 텍스트에서 원하는 문자열/패턴 검색</a:t>
            </a:r>
          </a:p>
          <a:p>
            <a:pPr>
              <a:defRPr sz="2200"/>
            </a:pPr>
            <a:r>
              <a:t>awk : 컬럼 단위 데이터 처리 및 분석</a:t>
            </a:r>
          </a:p>
          <a:p>
            <a:pPr>
              <a:defRPr sz="2200"/>
            </a:pPr>
            <a:r>
              <a:t>sed  : 텍스트 치환·삭제·삽입 등 변환</a:t>
            </a:r>
          </a:p>
          <a:p>
            <a:pPr>
              <a:defRPr sz="2200"/>
            </a:pPr>
            <a:r>
              <a:t>find : 파일/디렉터리를 조건으로 검색</a:t>
            </a:r>
          </a:p>
          <a:p>
            <a:pPr>
              <a:defRPr sz="2200"/>
            </a:pPr>
            <a:r>
              <a:t>실무에서는 파이프(|)와 함께 조합하여 사용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 grep — 문자열 검색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8813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/>
            </a:pPr>
            <a:r>
              <a:t>파일이나 표준출력에서 패턴을 찾습니다.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103120"/>
            <a:ext cx="10881360" cy="4023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latin typeface="Consolas"/>
              </a:defRPr>
            </a:pPr>
            <a:r>
              <a:t>grep "error" log.txt</a:t>
            </a:r>
          </a:p>
          <a:p>
            <a:pPr>
              <a:defRPr sz="1800">
                <a:latin typeface="Consolas"/>
              </a:defRPr>
            </a:pPr>
            <a:r>
              <a:t>grep -i "error" log.txt</a:t>
            </a:r>
          </a:p>
          <a:p>
            <a:pPr>
              <a:defRPr sz="1800">
                <a:latin typeface="Consolas"/>
              </a:defRPr>
            </a:pPr>
            <a:r>
              <a:t>grep -n "error" log.txt</a:t>
            </a:r>
          </a:p>
          <a:p>
            <a:pPr>
              <a:defRPr sz="1800">
                <a:latin typeface="Consolas"/>
              </a:defRPr>
            </a:pPr>
            <a:r>
              <a:t>grep -r "TODO" ./</a:t>
            </a:r>
          </a:p>
          <a:p>
            <a:pPr>
              <a:defRPr sz="1800">
                <a:latin typeface="Consolas"/>
              </a:defRPr>
            </a:pPr>
            <a:r>
              <a:t>grep "^ERROR" log.txt</a:t>
            </a:r>
          </a:p>
          <a:p>
            <a:pPr>
              <a:defRPr sz="1800">
                <a:latin typeface="Consolas"/>
              </a:defRPr>
            </a:pPr>
            <a:r>
              <a:t>grep "abc$" file.txt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grep 주요 옵션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-i : 대소문자 무시</a:t>
            </a:r>
          </a:p>
          <a:p>
            <a:pPr>
              <a:defRPr sz="2200"/>
            </a:pPr>
            <a:r>
              <a:t>-n : 줄 번호 표시</a:t>
            </a:r>
          </a:p>
          <a:p>
            <a:pPr>
              <a:defRPr sz="2200"/>
            </a:pPr>
            <a:r>
              <a:t>-r : 하위 디렉터리까지 재귀 검색</a:t>
            </a:r>
          </a:p>
          <a:p>
            <a:pPr>
              <a:defRPr sz="2200"/>
            </a:pPr>
            <a:r>
              <a:t>-v : 패턴과 일치하지 않는 줄 출력</a:t>
            </a:r>
          </a:p>
          <a:p>
            <a:pPr>
              <a:defRPr sz="2200"/>
            </a:pPr>
            <a:r>
              <a:t>-E : 확장 정규표현식 사용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3. awk — 컬럼/데이터 처리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8813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/>
            </a:pPr>
            <a:r>
              <a:t>공백 또는 지정한 구분자로 필드를 나누고 조건·계산을 수행합니다.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103120"/>
            <a:ext cx="10881360" cy="4023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latin typeface="Consolas"/>
              </a:defRPr>
            </a:pPr>
            <a:r>
              <a:t>awk '{print $1}' score.txt</a:t>
            </a:r>
          </a:p>
          <a:p>
            <a:pPr>
              <a:defRPr sz="1800">
                <a:latin typeface="Consolas"/>
              </a:defRPr>
            </a:pPr>
            <a:r>
              <a:t>awk '{print $1, $2}' score.txt</a:t>
            </a:r>
          </a:p>
          <a:p>
            <a:pPr>
              <a:defRPr sz="1800">
                <a:latin typeface="Consolas"/>
              </a:defRPr>
            </a:pPr>
            <a:r>
              <a:t>awk '$2 &gt; 80' score.txt</a:t>
            </a:r>
          </a:p>
          <a:p>
            <a:pPr>
              <a:defRPr sz="1800">
                <a:latin typeface="Consolas"/>
              </a:defRPr>
            </a:pPr>
            <a:r>
              <a:t>awk '{sum += $2} END {print sum}' score.txt</a:t>
            </a:r>
          </a:p>
          <a:p>
            <a:pPr>
              <a:defRPr sz="1800">
                <a:latin typeface="Consolas"/>
              </a:defRPr>
            </a:pPr>
            <a:r>
              <a:t>awk '{sum += $2} END {print sum/NR}' score.txt</a:t>
            </a:r>
          </a:p>
          <a:p>
            <a:pPr>
              <a:defRPr sz="1800">
                <a:latin typeface="Consolas"/>
              </a:defRPr>
            </a:pPr>
            <a:r>
              <a:t>awk -F ',' '{print $1, $2}' data.csv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awk 핵심 변수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$0 : 현재 전체 행</a:t>
            </a:r>
          </a:p>
          <a:p>
            <a:pPr>
              <a:defRPr sz="2200"/>
            </a:pPr>
            <a:r>
              <a:t>$1, $2, ... : 1번째, 2번째 ... 필드</a:t>
            </a:r>
          </a:p>
          <a:p>
            <a:pPr>
              <a:defRPr sz="2200"/>
            </a:pPr>
            <a:r>
              <a:t>NF : 현재 행의 필드 개수</a:t>
            </a:r>
          </a:p>
          <a:p>
            <a:pPr>
              <a:defRPr sz="2200"/>
            </a:pPr>
            <a:r>
              <a:t>NR : 현재까지 읽은 행 번호</a:t>
            </a:r>
          </a:p>
          <a:p>
            <a:pPr>
              <a:defRPr sz="2200"/>
            </a:pPr>
            <a:r>
              <a:t>-F : 필드 구분자 지정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4. sed — 텍스트 변환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8813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/>
            </a:pPr>
            <a:r>
              <a:t>텍스트를 스트림 방식으로 수정하며 설정 파일·로그 처리에 자주 사용합니다.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103120"/>
            <a:ext cx="10881360" cy="4023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latin typeface="Consolas"/>
              </a:defRPr>
            </a:pPr>
            <a:r>
              <a:t>sed 's/apple/orange/' file.txt</a:t>
            </a:r>
          </a:p>
          <a:p>
            <a:pPr>
              <a:defRPr sz="1800">
                <a:latin typeface="Consolas"/>
              </a:defRPr>
            </a:pPr>
            <a:r>
              <a:t>sed 's/apple/orange/g' file.txt</a:t>
            </a:r>
          </a:p>
          <a:p>
            <a:pPr>
              <a:defRPr sz="1800">
                <a:latin typeface="Consolas"/>
              </a:defRPr>
            </a:pPr>
            <a:r>
              <a:t>sed -i 's/old/new/g' config.txt</a:t>
            </a:r>
          </a:p>
          <a:p>
            <a:pPr>
              <a:defRPr sz="1800">
                <a:latin typeface="Consolas"/>
              </a:defRPr>
            </a:pPr>
            <a:r>
              <a:t>sed '3d' file.txt</a:t>
            </a:r>
          </a:p>
          <a:p>
            <a:pPr>
              <a:defRPr sz="1800">
                <a:latin typeface="Consolas"/>
              </a:defRPr>
            </a:pPr>
            <a:r>
              <a:t>sed '5,10d' file.txt</a:t>
            </a:r>
          </a:p>
          <a:p>
            <a:pPr>
              <a:defRPr sz="1800">
                <a:latin typeface="Consolas"/>
              </a:defRPr>
            </a:pPr>
            <a:r>
              <a:t>sed '3a New Line' file.txt</a:t>
            </a:r>
          </a:p>
          <a:p>
            <a:pPr>
              <a:defRPr sz="1800">
                <a:latin typeface="Consolas"/>
              </a:defRPr>
            </a:pPr>
            <a:r>
              <a:t>sed '3i Header' file.txt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sed 주요 명령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s/old/new/ : 문자열 치환</a:t>
            </a:r>
          </a:p>
          <a:p>
            <a:pPr>
              <a:defRPr sz="2200"/>
            </a:pPr>
            <a:r>
              <a:t>g : 한 줄의 모든 일치 항목 치환</a:t>
            </a:r>
          </a:p>
          <a:p>
            <a:pPr>
              <a:defRPr sz="2200"/>
            </a:pPr>
            <a:r>
              <a:t>d : 줄 삭제</a:t>
            </a:r>
          </a:p>
          <a:p>
            <a:pPr>
              <a:defRPr sz="2200"/>
            </a:pPr>
            <a:r>
              <a:t>a : 지정 위치 다음에 줄 추가</a:t>
            </a:r>
          </a:p>
          <a:p>
            <a:pPr>
              <a:defRPr sz="2200"/>
            </a:pPr>
            <a:r>
              <a:t>i : 지정 위치 앞에 줄 삽입</a:t>
            </a:r>
          </a:p>
          <a:p>
            <a:pPr>
              <a:defRPr sz="2200"/>
            </a:pPr>
            <a:r>
              <a:t>-i : 결과를 파일에 직접 반영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5. find — 파일 검색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8813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/>
            </a:pPr>
            <a:r>
              <a:t>파일명, 종류, 크기, 수정 시간 등의 조건으로 파일을 찾습니다.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103120"/>
            <a:ext cx="10881360" cy="4023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latin typeface="Consolas"/>
              </a:defRPr>
            </a:pPr>
            <a:r>
              <a:t>find . -name "*.txt"</a:t>
            </a:r>
          </a:p>
          <a:p>
            <a:pPr>
              <a:defRPr sz="1800">
                <a:latin typeface="Consolas"/>
              </a:defRPr>
            </a:pPr>
            <a:r>
              <a:t>find . -iname "*.txt"</a:t>
            </a:r>
          </a:p>
          <a:p>
            <a:pPr>
              <a:defRPr sz="1800">
                <a:latin typeface="Consolas"/>
              </a:defRPr>
            </a:pPr>
            <a:r>
              <a:t>find . -type f</a:t>
            </a:r>
          </a:p>
          <a:p>
            <a:pPr>
              <a:defRPr sz="1800">
                <a:latin typeface="Consolas"/>
              </a:defRPr>
            </a:pPr>
            <a:r>
              <a:t>find . -type d</a:t>
            </a:r>
          </a:p>
          <a:p>
            <a:pPr>
              <a:defRPr sz="1800">
                <a:latin typeface="Consolas"/>
              </a:defRPr>
            </a:pPr>
            <a:r>
              <a:t>find . -size +100M</a:t>
            </a:r>
          </a:p>
          <a:p>
            <a:pPr>
              <a:defRPr sz="1800">
                <a:latin typeface="Consolas"/>
              </a:defRPr>
            </a:pPr>
            <a:r>
              <a:t>find . -mtime -7</a:t>
            </a:r>
          </a:p>
          <a:p>
            <a:pPr>
              <a:defRPr sz="1800">
                <a:latin typeface="Consolas"/>
              </a:defRPr>
            </a:pPr>
            <a:r>
              <a:t>find . -perm 755</a:t>
            </a:r>
          </a:p>
          <a:p>
            <a:pPr>
              <a:defRPr sz="1800">
                <a:latin typeface="Consolas"/>
              </a:defRPr>
            </a:pPr>
            <a:r>
              <a:t>find . -name "*.tmp" -delete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find 주요 조건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-name : 파일명 패턴</a:t>
            </a:r>
          </a:p>
          <a:p>
            <a:pPr>
              <a:defRPr sz="2200"/>
            </a:pPr>
            <a:r>
              <a:t>-iname : 대소문자를 무시한 파일명 패턴</a:t>
            </a:r>
          </a:p>
          <a:p>
            <a:pPr>
              <a:defRPr sz="2200"/>
            </a:pPr>
            <a:r>
              <a:t>-type f/d : 파일/디렉터리</a:t>
            </a:r>
          </a:p>
          <a:p>
            <a:pPr>
              <a:defRPr sz="2200"/>
            </a:pPr>
            <a:r>
              <a:t>-size : 파일 크기</a:t>
            </a:r>
          </a:p>
          <a:p>
            <a:pPr>
              <a:defRPr sz="2200"/>
            </a:pPr>
            <a:r>
              <a:t>-mtime : 수정 시간 기준</a:t>
            </a:r>
          </a:p>
          <a:p>
            <a:pPr>
              <a:defRPr sz="2200"/>
            </a:pPr>
            <a:r>
              <a:t>-exec : 찾은 파일마다 명령 실행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6. find + grep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8813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/>
            </a:pPr>
            <a:r>
              <a:t>특정 확장자의 파일을 찾은 뒤 내부 내용을 검색합니다.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103120"/>
            <a:ext cx="10881360" cy="4023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latin typeface="Consolas"/>
              </a:defRPr>
            </a:pPr>
            <a:r>
              <a:t>find . -name "*.py" | xargs grep "TODO"</a:t>
            </a:r>
          </a:p>
          <a:p>
            <a:pPr>
              <a:defRPr sz="1800">
                <a:latin typeface="Consolas"/>
              </a:defRPr>
            </a:pPr>
          </a:p>
          <a:p>
            <a:pPr>
              <a:defRPr sz="1800">
                <a:latin typeface="Consolas"/>
              </a:defRPr>
            </a:pPr>
            <a:r>
              <a:t>find . -name "*.py" \</a:t>
            </a:r>
          </a:p>
          <a:p>
            <a:pPr>
              <a:defRPr sz="1800">
                <a:latin typeface="Consolas"/>
              </a:defRPr>
            </a:pPr>
            <a:r>
              <a:t>  -exec grep "TODO" {} \;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7. grep + awk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8813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/>
            </a:pPr>
            <a:r>
              <a:t>검색 결과에서 필요한 컬럼만 추출하거나 값을 계산합니다.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103120"/>
            <a:ext cx="10881360" cy="4023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latin typeface="Consolas"/>
              </a:defRPr>
            </a:pPr>
            <a:r>
              <a:t>free -m | grep Mem | awk '{print $3}'</a:t>
            </a:r>
          </a:p>
          <a:p>
            <a:pPr>
              <a:defRPr sz="1800">
                <a:latin typeface="Consolas"/>
              </a:defRPr>
            </a:pPr>
          </a:p>
          <a:p>
            <a:pPr>
              <a:defRPr sz="1800">
                <a:latin typeface="Consolas"/>
              </a:defRPr>
            </a:pPr>
            <a:r>
              <a:t># 로그에서 첫 번째 필드 추출</a:t>
            </a:r>
          </a:p>
          <a:p>
            <a:pPr>
              <a:defRPr sz="1800">
                <a:latin typeface="Consolas"/>
              </a:defRPr>
            </a:pPr>
            <a:r>
              <a:t>grep "ERROR" access.log | awk '{print $1}'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8. grep + sed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8813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/>
            </a:pPr>
            <a:r>
              <a:t>검색한 결과를 원하는 형태로 변환합니다.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103120"/>
            <a:ext cx="10881360" cy="4023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latin typeface="Consolas"/>
              </a:defRPr>
            </a:pPr>
            <a:r>
              <a:t>grep "error" log.txt | sed 's/error/ERROR/g'</a:t>
            </a:r>
          </a:p>
          <a:p>
            <a:pPr>
              <a:defRPr sz="1800">
                <a:latin typeface="Consolas"/>
              </a:defRPr>
            </a:pPr>
          </a:p>
          <a:p>
            <a:pPr>
              <a:defRPr sz="1800">
                <a:latin typeface="Consolas"/>
              </a:defRPr>
            </a:pPr>
            <a:r>
              <a:t># ERROR가 포함된 줄에서 문자열 치환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9. find + sed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8813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/>
            </a:pPr>
            <a:r>
              <a:t>특정 파일을 찾아 여러 파일의 내용을 일괄 변경합니다.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103120"/>
            <a:ext cx="10881360" cy="4023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latin typeface="Consolas"/>
              </a:defRPr>
            </a:pPr>
            <a:r>
              <a:t>find . -name "*.conf" \</a:t>
            </a:r>
          </a:p>
          <a:p>
            <a:pPr>
              <a:defRPr sz="1800">
                <a:latin typeface="Consolas"/>
              </a:defRPr>
            </a:pPr>
            <a:r>
              <a:t>  -exec sed -i 's/192.168.1.1/10.0.0.1/g' {} \;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10. find + grep + awk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8813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/>
            </a:pPr>
            <a:r>
              <a:t>로그 파일을 찾고 ERROR를 검색한 뒤 개수를 집계합니다.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103120"/>
            <a:ext cx="10881360" cy="4023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latin typeface="Consolas"/>
              </a:defRPr>
            </a:pPr>
            <a:r>
              <a:t>find logs -name "*.log" \</a:t>
            </a:r>
          </a:p>
          <a:p>
            <a:pPr>
              <a:defRPr sz="1800">
                <a:latin typeface="Consolas"/>
              </a:defRPr>
            </a:pPr>
            <a:r>
              <a:t>  | xargs grep ERROR \</a:t>
            </a:r>
          </a:p>
          <a:p>
            <a:pPr>
              <a:defRPr sz="1800">
                <a:latin typeface="Consolas"/>
              </a:defRPr>
            </a:pPr>
            <a:r>
              <a:t>  | awk '{count++} END {print count}'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11. 실무 예제 — 최근 로그의 ERROR 검색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8813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/>
            </a:pPr>
            <a:r>
              <a:t>최근 7일 이내 수정된 로그 파일에서 ERROR를 찾습니다.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103120"/>
            <a:ext cx="10881360" cy="4023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latin typeface="Consolas"/>
              </a:defRPr>
            </a:pPr>
            <a:r>
              <a:t>find /var/log -name "*.log" -mtime -7 \</a:t>
            </a:r>
          </a:p>
          <a:p>
            <a:pPr>
              <a:defRPr sz="1800">
                <a:latin typeface="Consolas"/>
              </a:defRPr>
            </a:pPr>
            <a:r>
              <a:t>  -exec grep "ERROR" {} \;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12. 실무 예제 — 가장 많이 나온 IP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8813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/>
            </a:pPr>
            <a:r>
              <a:t>로그의 첫 번째 필드를 IP로 보고 빈도순으로 정렬합니다.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103120"/>
            <a:ext cx="10881360" cy="4023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latin typeface="Consolas"/>
              </a:defRPr>
            </a:pPr>
            <a:r>
              <a:t>awk '{print $1}' access.log \</a:t>
            </a:r>
          </a:p>
          <a:p>
            <a:pPr>
              <a:defRPr sz="1800">
                <a:latin typeface="Consolas"/>
              </a:defRPr>
            </a:pPr>
            <a:r>
              <a:t>  | sort \</a:t>
            </a:r>
          </a:p>
          <a:p>
            <a:pPr>
              <a:defRPr sz="1800">
                <a:latin typeface="Consolas"/>
              </a:defRPr>
            </a:pPr>
            <a:r>
              <a:t>  | uniq -c \</a:t>
            </a:r>
          </a:p>
          <a:p>
            <a:pPr>
              <a:defRPr sz="1800">
                <a:latin typeface="Consolas"/>
              </a:defRPr>
            </a:pPr>
            <a:r>
              <a:t>  | sort -nr \</a:t>
            </a:r>
          </a:p>
          <a:p>
            <a:pPr>
              <a:defRPr sz="1800">
                <a:latin typeface="Consolas"/>
              </a:defRPr>
            </a:pPr>
            <a:r>
              <a:t>  | head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13. 핵심 기억법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find  → 파일 찾기</a:t>
            </a:r>
          </a:p>
          <a:p>
            <a:pPr>
              <a:defRPr sz="2200"/>
            </a:pPr>
            <a:r>
              <a:t>grep  → 내용 찾기</a:t>
            </a:r>
          </a:p>
          <a:p>
            <a:pPr>
              <a:defRPr sz="2200"/>
            </a:pPr>
            <a:r>
              <a:t>awk   → 데이터 분석/가공</a:t>
            </a:r>
          </a:p>
          <a:p>
            <a:pPr>
              <a:defRPr sz="2200"/>
            </a:pPr>
            <a:r>
              <a:t>sed   → 내용 수정</a:t>
            </a:r>
          </a:p>
          <a:p>
            <a:pPr>
              <a:defRPr sz="2200"/>
            </a:pPr>
          </a:p>
          <a:p>
            <a:pPr>
              <a:defRPr sz="2200"/>
            </a:pPr>
            <a:r>
              <a:t>실무 흐름 예시:</a:t>
            </a:r>
          </a:p>
          <a:p>
            <a:pPr>
              <a:defRPr sz="2200"/>
            </a:pPr>
            <a:r>
              <a:t>find → grep → awk → sed</a:t>
            </a:r>
          </a:p>
          <a:p>
            <a:pPr>
              <a:defRPr sz="2200"/>
            </a:pPr>
            <a:r>
              <a:t>파일 찾기 → 내용 검색 → 데이터 분석 → 텍스트 수정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14. 학습 순서 추천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① grep : 검색과 파이프라인의 기본 이해</a:t>
            </a:r>
          </a:p>
          <a:p>
            <a:pPr>
              <a:defRPr sz="2200"/>
            </a:pPr>
            <a:r>
              <a:t>② find : 파일 시스템 탐색</a:t>
            </a:r>
          </a:p>
          <a:p>
            <a:pPr>
              <a:defRPr sz="2200"/>
            </a:pPr>
            <a:r>
              <a:t>③ awk : 컬럼 처리와 집계</a:t>
            </a:r>
          </a:p>
          <a:p>
            <a:pPr>
              <a:defRPr sz="2200"/>
            </a:pPr>
            <a:r>
              <a:t>④ sed : 정규식 기반 텍스트 수정</a:t>
            </a:r>
          </a:p>
          <a:p>
            <a:pPr>
              <a:defRPr sz="2200"/>
            </a:pPr>
            <a:r>
              <a:t>⑤ 네 명령어를 |, xargs, -exec와 조합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